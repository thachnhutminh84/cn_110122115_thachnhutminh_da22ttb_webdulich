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D4B3B-2DAD-4BAA-962F-B5B3DEB8711B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FCF5A-2E23-4F88-8D74-B4C3B3CDA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9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CF5A-2E23-4F88-8D74-B4C3B3CDA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8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7A57-903C-6509-9388-01606297E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A20C8-B6CF-D094-D2C7-EE4BF4774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B91FD-2421-3BE4-489F-CBF85CC6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D7D3E-76B6-6239-6CCD-76B4581C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AED4C-F6DC-8A1B-7C2A-E7D0AF1A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60EE-3BF0-ECF5-5E3B-A7391FA3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9D73-F21B-3C4E-D3F9-BD5679847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29703-36C0-83DF-DB63-28C5F65A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47FBE-888D-EE9D-4F68-E03773E8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15FC7-5A15-CB38-79CF-FB98A60F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4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E470-C9CA-FA30-2833-EEB4F003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DFEA5-D890-1AA7-7C64-DA0896F4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31911-F4A7-8F34-2BB8-5766DA3C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97A5-9F8A-14B8-D6F3-9DBEADB3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254F-E9CA-A0BB-57A7-F77432FE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98C4-5724-4A8D-819E-D2C84DAF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BF96-0C6E-3E87-B991-4A0AB732B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FA50E-0F43-3317-B1A7-8E8B92DE7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0E1EE-8FD2-EADA-5BEC-79C8EECB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885EF-B24A-EFBB-922E-A3EA7183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8FC93-D0BB-107A-0E26-AFF58EC9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F696-6D8C-2742-0723-DEC6DFB7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6BA24-2A6F-8775-654E-18BAF566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078FA-8DC9-734E-94DF-9A0F603E8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F2869-83B1-6408-392E-57860CFDC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E0870-ED7C-1750-AD0F-3BC05B85C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2B312-BA5C-AEFA-1BB8-D61E2B23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D8288-EEE2-DCC0-BA3B-518A1D40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5AD56-B8DD-27BD-6681-DFECD9B9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6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76BF-833B-BAEB-B74C-CC1A9FF6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4CDD5-2325-AF30-B6A0-7F8E7373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BCD5F-540D-C15D-A2EF-AE92C8EC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A67B9-AD35-D2B9-F84D-6E09E456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CCE2C-C9CA-B4BA-5AF8-C702F530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F89B9-EFDC-7654-C707-2EC9C596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DB238-9EDC-766F-2D4D-A617FBDD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5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B85B-174B-F211-4542-5B048BCB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1E66-0368-AC98-D127-101F5073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BF990-595F-4A6E-6CFF-46A898DDB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5B6FD-D68A-0C74-4C42-D6F69E91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1911-E055-101E-02DF-545D5AAE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547E9-4E6E-8248-4219-98F0F282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C2EF-0EC9-C4FE-27B4-3A44D6787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84703-3693-5CE2-E6ED-3C927AAA2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DC284-47F8-F069-7155-194FF245A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95A0A-79C1-6C64-B23B-81763E90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1283C-234C-DD5A-24C4-D68D63A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4DA1F-D55D-81B0-378F-00FF404F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3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B0AE-A5F9-4E94-5660-6C68B17F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AFC1-F43C-429B-0DBC-F1AAD942D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14269-C683-5873-EEF2-75171257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385C9-8238-7CCE-6052-B2EE6859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816BC-9F84-EB34-044B-53FAA193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5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A4FFF-FD2F-6F89-275C-D67CA70B7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E0DBD-5EB6-0D93-CCDA-2270BF41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9CE2-A2F1-0CD1-6E74-4D06BB33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C904A-7348-9D6A-EE69-731852FA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819A-1970-10A3-2F05-0148D2F0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5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FA905-790B-E94F-C663-DF554102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73D9A-195B-F54A-F2A6-FEF4FBD5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A5D7-E476-DAD0-8FD7-0287CB4FE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AE01A-CD02-4293-9573-50D14A00E26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97FD-0D41-2428-20B5-B19335A55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1225-240B-C768-6F7E-B5C8DD217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FFB00-8439-4541-864C-D56B90CC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9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ED2FFB3-2D0A-D5CF-A9DC-E360BC4D6E56}"/>
              </a:ext>
            </a:extLst>
          </p:cNvPr>
          <p:cNvSpPr>
            <a:spLocks noGrp="1"/>
          </p:cNvSpPr>
          <p:nvPr/>
        </p:nvSpPr>
        <p:spPr>
          <a:xfrm>
            <a:off x="3342968" y="708563"/>
            <a:ext cx="7334864" cy="1651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</a:t>
            </a:r>
            <a:r>
              <a:rPr lang="vi-VN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TRƯỜNG ĐẠI HỌC TRÀ VINH</a:t>
            </a:r>
            <a:br>
              <a:rPr lang="vi-V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vi-V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</a:t>
            </a:r>
            <a:r>
              <a:rPr lang="vi-V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KHOA KĨ THUẬT VÀ CÔNG NGHỆ</a:t>
            </a:r>
            <a:b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sz="3600" dirty="0"/>
          </a:p>
        </p:txBody>
      </p:sp>
      <p:pic>
        <p:nvPicPr>
          <p:cNvPr id="7" name="Content Placeholder 6" descr="A blue and white logo&#10;&#10;Description automatically generated">
            <a:extLst>
              <a:ext uri="{FF2B5EF4-FFF2-40B4-BE49-F238E27FC236}">
                <a16:creationId xmlns:a16="http://schemas.microsoft.com/office/drawing/2014/main" id="{7AEF186A-2783-F5EE-D81B-F3E11E266522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88" y="688898"/>
            <a:ext cx="1548581" cy="1325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F03C5B-9BD3-05E4-3080-853DFC7A662C}"/>
              </a:ext>
            </a:extLst>
          </p:cNvPr>
          <p:cNvSpPr/>
          <p:nvPr/>
        </p:nvSpPr>
        <p:spPr>
          <a:xfrm>
            <a:off x="838200" y="523081"/>
            <a:ext cx="10515600" cy="5811838"/>
          </a:xfrm>
          <a:prstGeom prst="rect">
            <a:avLst/>
          </a:prstGeom>
          <a:noFill/>
          <a:ln w="190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D0678B-E852-49FB-25DB-0BF46A268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240453"/>
              </p:ext>
            </p:extLst>
          </p:nvPr>
        </p:nvGraphicFramePr>
        <p:xfrm>
          <a:off x="4051883" y="2001571"/>
          <a:ext cx="638402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4022">
                  <a:extLst>
                    <a:ext uri="{9D8B030D-6E8A-4147-A177-3AD203B41FA5}">
                      <a16:colId xmlns:a16="http://schemas.microsoft.com/office/drawing/2014/main" val="816836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tx1"/>
                          </a:solidFill>
                          <a:latin typeface="+mj-lt"/>
                        </a:rPr>
                        <a:t>Đồ Án Chuyên Nghành</a:t>
                      </a:r>
                      <a:endParaRPr lang="en-US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5955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DDFDACD-4CF0-8B51-1026-C3AAEFE9B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19457"/>
              </p:ext>
            </p:extLst>
          </p:nvPr>
        </p:nvGraphicFramePr>
        <p:xfrm>
          <a:off x="928381" y="2707856"/>
          <a:ext cx="10335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5237">
                  <a:extLst>
                    <a:ext uri="{9D8B030D-6E8A-4147-A177-3AD203B41FA5}">
                      <a16:colId xmlns:a16="http://schemas.microsoft.com/office/drawing/2014/main" val="563044119"/>
                    </a:ext>
                  </a:extLst>
                </a:gridCol>
              </a:tblGrid>
              <a:tr h="1067189">
                <a:tc>
                  <a:txBody>
                    <a:bodyPr/>
                    <a:lstStyle/>
                    <a:p>
                      <a:pPr algn="ctr"/>
                      <a:r>
                        <a:rPr lang="vi-VN" sz="24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PHÁT TRIỂN WEBSITE GIỚI THIỆU DU LỊCH TỈNH TRÀ VINH TÍCH HỢP BẢN ĐỒ VÀ ĐÁNH GIÁ NGƯỜI DÙNG SỬ DỤNG</a:t>
                      </a:r>
                    </a:p>
                    <a:p>
                      <a:pPr algn="ctr"/>
                      <a:r>
                        <a:rPr lang="vi-VN" sz="24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PHP VÀ MYSQL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0741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33D8BF-2E7D-F308-669F-B2460ED4D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10416"/>
              </p:ext>
            </p:extLst>
          </p:nvPr>
        </p:nvGraphicFramePr>
        <p:xfrm>
          <a:off x="4706224" y="4353886"/>
          <a:ext cx="6557394" cy="1359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697">
                  <a:extLst>
                    <a:ext uri="{9D8B030D-6E8A-4147-A177-3AD203B41FA5}">
                      <a16:colId xmlns:a16="http://schemas.microsoft.com/office/drawing/2014/main" val="547644073"/>
                    </a:ext>
                  </a:extLst>
                </a:gridCol>
                <a:gridCol w="3278697">
                  <a:extLst>
                    <a:ext uri="{9D8B030D-6E8A-4147-A177-3AD203B41FA5}">
                      <a16:colId xmlns:a16="http://schemas.microsoft.com/office/drawing/2014/main" val="594899749"/>
                    </a:ext>
                  </a:extLst>
                </a:gridCol>
              </a:tblGrid>
              <a:tr h="1359017">
                <a:tc>
                  <a:txBody>
                    <a:bodyPr/>
                    <a:lstStyle/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Giáo viên hướng dẫn </a:t>
                      </a:r>
                    </a:p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ThS. Nguyễn văn Thanh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Sinh viên thực hiện</a:t>
                      </a:r>
                    </a:p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Họ tên: Thạch Nhựt Minh</a:t>
                      </a:r>
                    </a:p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MSSV:110122115</a:t>
                      </a:r>
                    </a:p>
                    <a:p>
                      <a:pPr algn="ctr"/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Lớp:DA22TTB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508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33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2912-9994-1F11-A5AC-CB84E83C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057"/>
          </a:xfrm>
        </p:spPr>
        <p:txBody>
          <a:bodyPr>
            <a:normAutofit fontScale="90000"/>
          </a:bodyPr>
          <a:lstStyle/>
          <a:p>
            <a:pPr algn="ctr"/>
            <a:r>
              <a:rPr lang="vi-VN" sz="2200" b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PHÁT TRIỂN WEBSITE GIỚI THIỆU DU LỊCH TỈNH TRÀ VINH TÍCH HỢP BẢN ĐỒ VÀ ĐÁNH GIÁ NGƯỜI DÙNG SỬ DỤNG</a:t>
            </a:r>
            <a:br>
              <a:rPr lang="vi-VN" sz="2200" b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</a:br>
            <a:r>
              <a:rPr lang="vi-VN" sz="2200" b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PHP VÀ MYSQL</a:t>
            </a:r>
            <a:br>
              <a:rPr lang="vi-VN" sz="4400" b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C0BE-023A-92EF-37FE-5736EF95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5612934" cy="545284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vi-VN" sz="3000" b="1" dirty="0">
                <a:latin typeface="+mj-lt"/>
              </a:rPr>
              <a:t>Bối cảnh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Trà Vinh là tỉnh có tiềm năng du lịch lớn với hơn </a:t>
            </a:r>
            <a:r>
              <a:rPr lang="vi-VN" sz="3000" b="1" dirty="0">
                <a:latin typeface="+mj-lt"/>
              </a:rPr>
              <a:t>140 ngôi chùa Khmer</a:t>
            </a:r>
            <a:r>
              <a:rPr lang="vi-VN" sz="3000" dirty="0">
                <a:latin typeface="+mj-lt"/>
              </a:rPr>
              <a:t>, </a:t>
            </a:r>
            <a:r>
              <a:rPr lang="vi-VN" sz="3000" b="1" dirty="0">
                <a:latin typeface="+mj-lt"/>
              </a:rPr>
              <a:t>50+ di tích lịch sử – văn hóa</a:t>
            </a:r>
            <a:r>
              <a:rPr lang="vi-VN" sz="3000" dirty="0">
                <a:latin typeface="+mj-lt"/>
              </a:rPr>
              <a:t>, cùng nhiều điểm đến sinh thái đặc trưng.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Lượng khách du lịch đạt khoảng </a:t>
            </a:r>
            <a:r>
              <a:rPr lang="vi-VN" sz="3000" b="1" dirty="0">
                <a:latin typeface="+mj-lt"/>
              </a:rPr>
              <a:t>3,5 triệu lượt/năm</a:t>
            </a:r>
            <a:r>
              <a:rPr lang="vi-VN" sz="3000" dirty="0">
                <a:latin typeface="+mj-lt"/>
              </a:rPr>
              <a:t>, cho thấy nhu cầu tìm hiểu thông tin và trải nghiệm du lịch ngày càng cao.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Tuy nhiên, thông tin du lịch hiện nay còn </a:t>
            </a:r>
            <a:r>
              <a:rPr lang="vi-VN" sz="3000" b="1" dirty="0">
                <a:latin typeface="+mj-lt"/>
              </a:rPr>
              <a:t>phân tán</a:t>
            </a:r>
            <a:r>
              <a:rPr lang="vi-VN" sz="3000" dirty="0">
                <a:latin typeface="+mj-lt"/>
              </a:rPr>
              <a:t>, chủ yếu trên các website truyền thống, mạng xã hội, thiếu một nền tảng tập trung, đồng bộ và trực quan.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Xu hướng </a:t>
            </a:r>
            <a:r>
              <a:rPr lang="vi-VN" sz="3000" b="1" dirty="0">
                <a:latin typeface="+mj-lt"/>
              </a:rPr>
              <a:t>du lịch số (Digital Tourism)</a:t>
            </a:r>
            <a:r>
              <a:rPr lang="vi-VN" sz="3000" dirty="0">
                <a:latin typeface="+mj-lt"/>
              </a:rPr>
              <a:t> đang phát triển mạnh, du khách có thói quen tra cứu, đặt dịch vụ và thanh toán trực tuyến trước chuyến đi.</a:t>
            </a:r>
          </a:p>
          <a:p>
            <a:r>
              <a:rPr lang="vi-VN" sz="3000" b="1" dirty="0">
                <a:latin typeface="+mj-lt"/>
              </a:rPr>
              <a:t>Lý do chọn đề tài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Cần xây dựng một </a:t>
            </a:r>
            <a:r>
              <a:rPr lang="vi-VN" sz="3000" b="1" dirty="0">
                <a:latin typeface="+mj-lt"/>
              </a:rPr>
              <a:t>hệ thống website hiện đại</a:t>
            </a:r>
            <a:r>
              <a:rPr lang="vi-VN" sz="3000" dirty="0">
                <a:latin typeface="+mj-lt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Tích hợp </a:t>
            </a:r>
            <a:r>
              <a:rPr lang="vi-VN" sz="3000" b="1" dirty="0">
                <a:latin typeface="+mj-lt"/>
              </a:rPr>
              <a:t>bản đồ Google Maps</a:t>
            </a:r>
            <a:r>
              <a:rPr lang="vi-VN" sz="3000" dirty="0">
                <a:latin typeface="+mj-lt"/>
              </a:rPr>
              <a:t> để định vị chính xác các điểm du lịch.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Cho phép </a:t>
            </a:r>
            <a:r>
              <a:rPr lang="vi-VN" sz="3000" b="1" dirty="0">
                <a:latin typeface="+mj-lt"/>
              </a:rPr>
              <a:t>tìm kiếm, lọc thông tin thông minh</a:t>
            </a:r>
            <a:r>
              <a:rPr lang="vi-VN" sz="3000" dirty="0">
                <a:latin typeface="+mj-lt"/>
              </a:rPr>
              <a:t> theo nhu cầu du khách.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Hỗ trợ </a:t>
            </a:r>
            <a:r>
              <a:rPr lang="vi-VN" sz="3000" b="1" dirty="0">
                <a:latin typeface="+mj-lt"/>
              </a:rPr>
              <a:t>đặt tour và thanh toán trực tuyến</a:t>
            </a:r>
            <a:r>
              <a:rPr lang="vi-VN" sz="3000" dirty="0">
                <a:latin typeface="+mj-lt"/>
              </a:rPr>
              <a:t> nhanh chóng, an toàn.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Nhằm: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Nâng cao </a:t>
            </a:r>
            <a:r>
              <a:rPr lang="vi-VN" sz="3000" b="1" dirty="0">
                <a:latin typeface="+mj-lt"/>
              </a:rPr>
              <a:t>trải nghiệm người dùng</a:t>
            </a:r>
            <a:r>
              <a:rPr lang="vi-VN" sz="3000" dirty="0">
                <a:latin typeface="+mj-lt"/>
              </a:rPr>
              <a:t> so với website truyền thống.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Giúp du khách dễ dàng tiếp cận thông tin, tiết kiệm thời gian.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3000" dirty="0">
                <a:latin typeface="+mj-lt"/>
              </a:rPr>
              <a:t>Góp phần </a:t>
            </a:r>
            <a:r>
              <a:rPr lang="vi-VN" sz="3000" b="1" dirty="0">
                <a:latin typeface="+mj-lt"/>
              </a:rPr>
              <a:t>quảng bá hình ảnh du lịch Trà Vinh</a:t>
            </a:r>
            <a:r>
              <a:rPr lang="vi-VN" sz="3000" dirty="0">
                <a:latin typeface="+mj-lt"/>
              </a:rPr>
              <a:t> và thúc đẩy phát triển du lịch địa phương.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B3585-6F56-FD4A-F01E-3D8084A61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268" y="1409954"/>
            <a:ext cx="5032640" cy="249092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394C14-07A6-4403-AAFD-D38F51E4F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27995"/>
              </p:ext>
            </p:extLst>
          </p:nvPr>
        </p:nvGraphicFramePr>
        <p:xfrm>
          <a:off x="6741268" y="3900881"/>
          <a:ext cx="531464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4644">
                  <a:extLst>
                    <a:ext uri="{9D8B030D-6E8A-4147-A177-3AD203B41FA5}">
                      <a16:colId xmlns:a16="http://schemas.microsoft.com/office/drawing/2014/main" val="3332078999"/>
                    </a:ext>
                  </a:extLst>
                </a:gridCol>
              </a:tblGrid>
              <a:tr h="2827089">
                <a:tc>
                  <a:txBody>
                    <a:bodyPr/>
                    <a:lstStyle/>
                    <a:p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Vấn đề đặt ra</a:t>
                      </a:r>
                    </a:p>
                    <a:p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Du khách gặp khó khăn khi:</a:t>
                      </a:r>
                    </a:p>
                    <a:p>
                      <a:pPr lvl="1"/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Tìm kiếm thông tin chính xác về địa điểm, lịch trình, giá cả.</a:t>
                      </a:r>
                    </a:p>
                    <a:p>
                      <a:pPr lvl="1"/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Xác định vị trí trên bản đồ và lên kế hoạch di chuyển.</a:t>
                      </a:r>
                    </a:p>
                    <a:p>
                      <a:pPr lvl="1"/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Thiếu các chức năng đặt tour, đặt dịch vụ và thanh toán trực tuyến ngay trên một nền tảng.</a:t>
                      </a:r>
                    </a:p>
                    <a:p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Các website hiện tại:</a:t>
                      </a:r>
                    </a:p>
                    <a:p>
                      <a:pPr lvl="1"/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Giao diện chưa thân thiện, ít tương tác.</a:t>
                      </a:r>
                    </a:p>
                    <a:p>
                      <a:pPr lvl="1"/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Chưa tích hợp bản đồ, đánh giá người dùng, hoặc hệ thống quản lý hiện đại.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9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271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F9C5A-252A-B824-59FA-5421D8E74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58" y="302004"/>
            <a:ext cx="11169242" cy="5874959"/>
          </a:xfrm>
        </p:spPr>
        <p:txBody>
          <a:bodyPr>
            <a:normAutofit/>
          </a:bodyPr>
          <a:lstStyle/>
          <a:p>
            <a:endParaRPr lang="vi-VN" sz="1600" dirty="0">
              <a:latin typeface="+mj-lt"/>
            </a:endParaRPr>
          </a:p>
          <a:p>
            <a:endParaRPr lang="vi-VN" sz="1600" dirty="0">
              <a:latin typeface="+mj-lt"/>
            </a:endParaRPr>
          </a:p>
          <a:p>
            <a:endParaRPr lang="vi-VN" sz="1600" dirty="0">
              <a:latin typeface="+mj-lt"/>
            </a:endParaRPr>
          </a:p>
          <a:p>
            <a:endParaRPr lang="vi-VN" sz="1600" dirty="0">
              <a:latin typeface="+mj-lt"/>
            </a:endParaRPr>
          </a:p>
          <a:p>
            <a:pPr marL="0" indent="0">
              <a:buNone/>
            </a:pPr>
            <a:endParaRPr lang="vi-VN" sz="1600" dirty="0">
              <a:latin typeface="+mj-lt"/>
            </a:endParaRPr>
          </a:p>
          <a:p>
            <a:pPr marL="0" indent="0">
              <a:buNone/>
            </a:pPr>
            <a:r>
              <a:rPr lang="vi-VN" sz="2000" dirty="0">
                <a:latin typeface="+mj-lt"/>
              </a:rPr>
              <a:t>Sử dụng công nghệ 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5112D4-2F27-AA27-C27A-61A5B3D8C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71079"/>
              </p:ext>
            </p:extLst>
          </p:nvPr>
        </p:nvGraphicFramePr>
        <p:xfrm>
          <a:off x="2537903" y="482987"/>
          <a:ext cx="403067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0677">
                  <a:extLst>
                    <a:ext uri="{9D8B030D-6E8A-4147-A177-3AD203B41FA5}">
                      <a16:colId xmlns:a16="http://schemas.microsoft.com/office/drawing/2014/main" val="107083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Frontend: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688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D86DD4-4454-1148-F3AF-D71F26889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678319"/>
              </p:ext>
            </p:extLst>
          </p:nvPr>
        </p:nvGraphicFramePr>
        <p:xfrm>
          <a:off x="2537903" y="1437641"/>
          <a:ext cx="403067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0677">
                  <a:extLst>
                    <a:ext uri="{9D8B030D-6E8A-4147-A177-3AD203B41FA5}">
                      <a16:colId xmlns:a16="http://schemas.microsoft.com/office/drawing/2014/main" val="2389732761"/>
                    </a:ext>
                  </a:extLst>
                </a:gridCol>
              </a:tblGrid>
              <a:tr h="169629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Backend:                 , PDO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2904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9F75B6-3A4D-ABA7-3567-5FE7D29CA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797883"/>
              </p:ext>
            </p:extLst>
          </p:nvPr>
        </p:nvGraphicFramePr>
        <p:xfrm>
          <a:off x="2881852" y="2297525"/>
          <a:ext cx="36867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728">
                  <a:extLst>
                    <a:ext uri="{9D8B030D-6E8A-4147-A177-3AD203B41FA5}">
                      <a16:colId xmlns:a16="http://schemas.microsoft.com/office/drawing/2014/main" val="2937399235"/>
                    </a:ext>
                  </a:extLst>
                </a:gridCol>
              </a:tblGrid>
              <a:tr h="202347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Database: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98477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23C60D-36FC-0A59-86E0-6866CA8B0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209422"/>
              </p:ext>
            </p:extLst>
          </p:nvPr>
        </p:nvGraphicFramePr>
        <p:xfrm>
          <a:off x="3049631" y="3433922"/>
          <a:ext cx="68536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3678">
                  <a:extLst>
                    <a:ext uri="{9D8B030D-6E8A-4147-A177-3AD203B41FA5}">
                      <a16:colId xmlns:a16="http://schemas.microsoft.com/office/drawing/2014/main" val="1862270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API tiện ích: Tích hợp Google Map API và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4821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5D768E4-5193-19FB-5137-53FCD9C6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71" y="1437641"/>
            <a:ext cx="962159" cy="323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404BD0-13AD-C23D-EAED-5CE727562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21" y="472774"/>
            <a:ext cx="5229204" cy="381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5CD331-751A-B176-04E6-C2B4E7893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096" y="490510"/>
            <a:ext cx="1524213" cy="381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F6C3B4-7651-00C0-3BBC-807BA8152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950" y="2225074"/>
            <a:ext cx="1533739" cy="438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DDE531-887F-DCD4-E42B-95623A5BD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332" y="3377405"/>
            <a:ext cx="1457528" cy="390580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EB74AB-EF9A-0FD9-BA5B-EEDD78974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22193"/>
              </p:ext>
            </p:extLst>
          </p:nvPr>
        </p:nvGraphicFramePr>
        <p:xfrm>
          <a:off x="0" y="3970790"/>
          <a:ext cx="3825380" cy="93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380">
                  <a:extLst>
                    <a:ext uri="{9D8B030D-6E8A-4147-A177-3AD203B41FA5}">
                      <a16:colId xmlns:a16="http://schemas.microsoft.com/office/drawing/2014/main" val="2060252085"/>
                    </a:ext>
                  </a:extLst>
                </a:gridCol>
              </a:tblGrid>
              <a:tr h="93677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Sơ đồ kiến trức hệ thống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86585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18F33D44-23CE-3D65-22D4-6C38CBF27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33" y="4522613"/>
            <a:ext cx="5389122" cy="134321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1BDC08-EDE4-7FC9-648C-9B38ED0DFE9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139193" y="668407"/>
            <a:ext cx="398710" cy="1361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557E7D-55CF-DC0D-9B29-35D92BAE9675}"/>
              </a:ext>
            </a:extLst>
          </p:cNvPr>
          <p:cNvCxnSpPr>
            <a:cxnSpLocks/>
          </p:cNvCxnSpPr>
          <p:nvPr/>
        </p:nvCxnSpPr>
        <p:spPr>
          <a:xfrm flipV="1">
            <a:off x="2139193" y="1761536"/>
            <a:ext cx="572144" cy="26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91E516-23D3-0069-5E5F-0960EA08099D}"/>
              </a:ext>
            </a:extLst>
          </p:cNvPr>
          <p:cNvCxnSpPr>
            <a:cxnSpLocks/>
          </p:cNvCxnSpPr>
          <p:nvPr/>
        </p:nvCxnSpPr>
        <p:spPr>
          <a:xfrm>
            <a:off x="2137213" y="2030136"/>
            <a:ext cx="904029" cy="537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DB0509-C805-1444-367A-B586AD7D2411}"/>
              </a:ext>
            </a:extLst>
          </p:cNvPr>
          <p:cNvCxnSpPr>
            <a:cxnSpLocks/>
          </p:cNvCxnSpPr>
          <p:nvPr/>
        </p:nvCxnSpPr>
        <p:spPr>
          <a:xfrm>
            <a:off x="2139193" y="2030136"/>
            <a:ext cx="1024276" cy="1589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87C849F-F58F-F7A7-57F7-A4DFF3923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16573"/>
              </p:ext>
            </p:extLst>
          </p:nvPr>
        </p:nvGraphicFramePr>
        <p:xfrm>
          <a:off x="6196541" y="4061282"/>
          <a:ext cx="545076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0768">
                  <a:extLst>
                    <a:ext uri="{9D8B030D-6E8A-4147-A177-3AD203B41FA5}">
                      <a16:colId xmlns:a16="http://schemas.microsoft.com/office/drawing/2014/main" val="3700758971"/>
                    </a:ext>
                  </a:extLst>
                </a:gridCol>
              </a:tblGrid>
              <a:tr h="436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Frontend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là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cầu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nối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giữa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user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hệ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thống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04629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2788264-95FF-00AC-36B8-38E4AA451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3659"/>
              </p:ext>
            </p:extLst>
          </p:nvPr>
        </p:nvGraphicFramePr>
        <p:xfrm>
          <a:off x="6196541" y="4797186"/>
          <a:ext cx="5450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0768">
                  <a:extLst>
                    <a:ext uri="{9D8B030D-6E8A-4147-A177-3AD203B41FA5}">
                      <a16:colId xmlns:a16="http://schemas.microsoft.com/office/drawing/2014/main" val="3110799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349383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DB93012-78E1-9AAA-97A4-4DFAAFC02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688125"/>
              </p:ext>
            </p:extLst>
          </p:nvPr>
        </p:nvGraphicFramePr>
        <p:xfrm>
          <a:off x="6179335" y="5336471"/>
          <a:ext cx="538912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9122">
                  <a:extLst>
                    <a:ext uri="{9D8B030D-6E8A-4147-A177-3AD203B41FA5}">
                      <a16:colId xmlns:a16="http://schemas.microsoft.com/office/drawing/2014/main" val="2203974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Database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là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kho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trung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tâm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97987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DE057F9-6EBF-A0B2-6858-95C97C5F612A}"/>
              </a:ext>
            </a:extLst>
          </p:cNvPr>
          <p:cNvSpPr txBox="1"/>
          <p:nvPr/>
        </p:nvSpPr>
        <p:spPr>
          <a:xfrm>
            <a:off x="6307323" y="4684402"/>
            <a:ext cx="6115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Backend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não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962CDFD-DBCE-A57D-9E2C-8A7FF66B4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116610"/>
              </p:ext>
            </p:extLst>
          </p:nvPr>
        </p:nvGraphicFramePr>
        <p:xfrm>
          <a:off x="6179335" y="6176963"/>
          <a:ext cx="51572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7260">
                  <a:extLst>
                    <a:ext uri="{9D8B030D-6E8A-4147-A177-3AD203B41FA5}">
                      <a16:colId xmlns:a16="http://schemas.microsoft.com/office/drawing/2014/main" val="194246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b="0" dirty="0">
                          <a:solidFill>
                            <a:schemeClr val="tx1"/>
                          </a:solidFill>
                        </a:rPr>
                        <a:t>GooGle map có chức năng hộ trở người dùng xem bảng đồ, VNPay hỗ trợ thanh toán 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343443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A3B3F5-6887-077C-9DAF-160441D63B2C}"/>
              </a:ext>
            </a:extLst>
          </p:cNvPr>
          <p:cNvCxnSpPr>
            <a:cxnSpLocks/>
          </p:cNvCxnSpPr>
          <p:nvPr/>
        </p:nvCxnSpPr>
        <p:spPr>
          <a:xfrm flipV="1">
            <a:off x="4303552" y="4264168"/>
            <a:ext cx="2003771" cy="747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C1167B-95DB-1F9F-CEFD-FC3C28D91FCC}"/>
              </a:ext>
            </a:extLst>
          </p:cNvPr>
          <p:cNvCxnSpPr>
            <a:cxnSpLocks/>
          </p:cNvCxnSpPr>
          <p:nvPr/>
        </p:nvCxnSpPr>
        <p:spPr>
          <a:xfrm flipV="1">
            <a:off x="4370664" y="4929055"/>
            <a:ext cx="2121217" cy="121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B720BE-CFF3-1FFF-4A44-F57EC20A8CE3}"/>
              </a:ext>
            </a:extLst>
          </p:cNvPr>
          <p:cNvCxnSpPr>
            <a:cxnSpLocks/>
          </p:cNvCxnSpPr>
          <p:nvPr/>
        </p:nvCxnSpPr>
        <p:spPr>
          <a:xfrm>
            <a:off x="4370664" y="5011939"/>
            <a:ext cx="1808671" cy="482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2A71AA-8FAC-E726-C9D2-D48101B2665C}"/>
              </a:ext>
            </a:extLst>
          </p:cNvPr>
          <p:cNvCxnSpPr>
            <a:cxnSpLocks/>
          </p:cNvCxnSpPr>
          <p:nvPr/>
        </p:nvCxnSpPr>
        <p:spPr>
          <a:xfrm>
            <a:off x="4337108" y="4982606"/>
            <a:ext cx="1784857" cy="1306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63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65B3-4534-3570-A185-16420806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r>
              <a:rPr lang="vi-VN" sz="1400" dirty="0">
                <a:latin typeface="Time  s New Roman"/>
              </a:rPr>
              <a:t>Đối tượng sử dụng được chia thành các nhóm phụ thuộc vào từng chức năng: Du Khách, Admin,</a:t>
            </a:r>
            <a:endParaRPr lang="en-US" sz="1400" dirty="0">
              <a:latin typeface="Time  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1BB84C-7ADA-44DF-5BE5-621B3F10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55846"/>
              </p:ext>
            </p:extLst>
          </p:nvPr>
        </p:nvGraphicFramePr>
        <p:xfrm>
          <a:off x="380182" y="2033628"/>
          <a:ext cx="21663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374">
                  <a:extLst>
                    <a:ext uri="{9D8B030D-6E8A-4147-A177-3AD203B41FA5}">
                      <a16:colId xmlns:a16="http://schemas.microsoft.com/office/drawing/2014/main" val="699436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Du Khách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2111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BFF8A9-315E-1687-0AAE-103A00735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72523"/>
              </p:ext>
            </p:extLst>
          </p:nvPr>
        </p:nvGraphicFramePr>
        <p:xfrm>
          <a:off x="2877574" y="127263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510413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thông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tin</a:t>
                      </a:r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 địa điểm du lịch, xem chi tiết ẩm thực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77492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9F4810-54E1-7386-F1BE-A9EED128D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408179"/>
              </p:ext>
            </p:extLst>
          </p:nvPr>
        </p:nvGraphicFramePr>
        <p:xfrm>
          <a:off x="2877574" y="203362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23088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tìm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tour,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đặt</a:t>
                      </a:r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 tour, đặt dịch vụ, xem bản đồ, tìm quán ăn, gửi tin nhắn.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6822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5CACCD-3D3E-E249-55AF-6A4E7E719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334706"/>
              </p:ext>
            </p:extLst>
          </p:nvPr>
        </p:nvGraphicFramePr>
        <p:xfrm>
          <a:off x="2877574" y="281393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8538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thanh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toán</a:t>
                      </a:r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 VNPay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600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6F4907-3125-6365-42FB-9ACDC077A07F}"/>
              </a:ext>
            </a:extLst>
          </p:cNvPr>
          <p:cNvCxnSpPr>
            <a:endCxn id="5" idx="1"/>
          </p:cNvCxnSpPr>
          <p:nvPr/>
        </p:nvCxnSpPr>
        <p:spPr>
          <a:xfrm flipV="1">
            <a:off x="1641987" y="1458054"/>
            <a:ext cx="1235587" cy="675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85E2C2-F593-46C4-FDDD-CC054B2173A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641987" y="2082864"/>
            <a:ext cx="1235587" cy="136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67DC4F-EDA4-BBA1-31A4-4A02DC93619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641987" y="2150956"/>
            <a:ext cx="1235587" cy="848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5214EA-3950-B115-302C-1793A16A9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88888"/>
              </p:ext>
            </p:extLst>
          </p:nvPr>
        </p:nvGraphicFramePr>
        <p:xfrm>
          <a:off x="1463369" y="3615822"/>
          <a:ext cx="106516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1613">
                  <a:extLst>
                    <a:ext uri="{9D8B030D-6E8A-4147-A177-3AD203B41FA5}">
                      <a16:colId xmlns:a16="http://schemas.microsoft.com/office/drawing/2014/main" val="480104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Admin quản lý tất cả các thao tác của du khách tác dụng lên trang web và quản lý các: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99427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84D97C5-2BF9-1274-6F49-69310F91F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65361"/>
              </p:ext>
            </p:extLst>
          </p:nvPr>
        </p:nvGraphicFramePr>
        <p:xfrm>
          <a:off x="452284" y="5012596"/>
          <a:ext cx="11277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1159973909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79620947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78275403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55064004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32979584"/>
                    </a:ext>
                  </a:extLst>
                </a:gridCol>
              </a:tblGrid>
              <a:tr h="286991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Quẩn lý booking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 dirty="0">
                          <a:solidFill>
                            <a:schemeClr val="tx1"/>
                          </a:solidFill>
                        </a:rPr>
                        <a:t>Quản lý thanh toán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Quản lý dịch vụ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Quản lý tin nhắn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Quản lý tài khoản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540981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54EDDF-1C4F-77FB-9F79-97A4A80D7B6C}"/>
              </a:ext>
            </a:extLst>
          </p:cNvPr>
          <p:cNvCxnSpPr/>
          <p:nvPr/>
        </p:nvCxnSpPr>
        <p:spPr>
          <a:xfrm flipH="1">
            <a:off x="2045110" y="3883742"/>
            <a:ext cx="4277032" cy="112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65A548-F4D4-BCB3-41BF-9FD773196A5C}"/>
              </a:ext>
            </a:extLst>
          </p:cNvPr>
          <p:cNvCxnSpPr/>
          <p:nvPr/>
        </p:nvCxnSpPr>
        <p:spPr>
          <a:xfrm flipH="1">
            <a:off x="4463845" y="3873910"/>
            <a:ext cx="1927123" cy="113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831098-6713-FEDE-76DE-AF9240BD2801}"/>
              </a:ext>
            </a:extLst>
          </p:cNvPr>
          <p:cNvCxnSpPr/>
          <p:nvPr/>
        </p:nvCxnSpPr>
        <p:spPr>
          <a:xfrm>
            <a:off x="6430297" y="3883742"/>
            <a:ext cx="0" cy="112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658C2A-6C5C-0D3C-1099-24CEE8A0147D}"/>
              </a:ext>
            </a:extLst>
          </p:cNvPr>
          <p:cNvCxnSpPr/>
          <p:nvPr/>
        </p:nvCxnSpPr>
        <p:spPr>
          <a:xfrm>
            <a:off x="6390968" y="3883742"/>
            <a:ext cx="1828800" cy="112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17AFC3-0228-6731-D57D-AFCC2E9ADFE5}"/>
              </a:ext>
            </a:extLst>
          </p:cNvPr>
          <p:cNvCxnSpPr/>
          <p:nvPr/>
        </p:nvCxnSpPr>
        <p:spPr>
          <a:xfrm>
            <a:off x="6390968" y="3883742"/>
            <a:ext cx="4041058" cy="113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22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B7220D-EE27-EFB7-F834-71E49B467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29906"/>
              </p:ext>
            </p:extLst>
          </p:nvPr>
        </p:nvGraphicFramePr>
        <p:xfrm>
          <a:off x="360728" y="3147969"/>
          <a:ext cx="22398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860">
                  <a:extLst>
                    <a:ext uri="{9D8B030D-6E8A-4147-A177-3AD203B41FA5}">
                      <a16:colId xmlns:a16="http://schemas.microsoft.com/office/drawing/2014/main" val="3197727019"/>
                    </a:ext>
                  </a:extLst>
                </a:gridCol>
              </a:tblGrid>
              <a:tr h="562062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  <a:latin typeface="Time s New Roman"/>
                        </a:rPr>
                        <a:t>Các chức năng sử dụng trong website</a:t>
                      </a:r>
                      <a:endParaRPr lang="en-US" dirty="0">
                        <a:solidFill>
                          <a:schemeClr val="tx1"/>
                        </a:solidFill>
                        <a:latin typeface="Time s New Roman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043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5361E4-09F6-6D88-34D5-67A9565A3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87471"/>
              </p:ext>
            </p:extLst>
          </p:nvPr>
        </p:nvGraphicFramePr>
        <p:xfrm>
          <a:off x="4506752" y="2380373"/>
          <a:ext cx="4064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93044181"/>
                    </a:ext>
                  </a:extLst>
                </a:gridCol>
              </a:tblGrid>
              <a:tr h="30428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Đăng ký , đăng nhập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426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DA5E5C-A721-9DE1-EC08-784E4E888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07912"/>
              </p:ext>
            </p:extLst>
          </p:nvPr>
        </p:nvGraphicFramePr>
        <p:xfrm>
          <a:off x="4651229" y="4303552"/>
          <a:ext cx="4064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27067392"/>
                    </a:ext>
                  </a:extLst>
                </a:gridCol>
              </a:tblGrid>
              <a:tr h="307576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Xem bảng đồ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2705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D313D4-FA4C-BF68-A4CD-0873FD01A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835396"/>
              </p:ext>
            </p:extLst>
          </p:nvPr>
        </p:nvGraphicFramePr>
        <p:xfrm>
          <a:off x="4651229" y="5320045"/>
          <a:ext cx="41926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631">
                  <a:extLst>
                    <a:ext uri="{9D8B030D-6E8A-4147-A177-3AD203B41FA5}">
                      <a16:colId xmlns:a16="http://schemas.microsoft.com/office/drawing/2014/main" val="273678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Đặt tour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8388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B08403-2214-FF55-1BA9-32E91D07C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24233"/>
              </p:ext>
            </p:extLst>
          </p:nvPr>
        </p:nvGraphicFramePr>
        <p:xfrm>
          <a:off x="3912997" y="3197847"/>
          <a:ext cx="406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56486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Tìm kiếm và lọc dữ liệu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7092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4CE6D4-FAF5-8E65-7E10-D06A82597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307927"/>
              </p:ext>
            </p:extLst>
          </p:nvPr>
        </p:nvGraphicFramePr>
        <p:xfrm>
          <a:off x="4506752" y="511608"/>
          <a:ext cx="24495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584">
                  <a:extLst>
                    <a:ext uri="{9D8B030D-6E8A-4147-A177-3AD203B41FA5}">
                      <a16:colId xmlns:a16="http://schemas.microsoft.com/office/drawing/2014/main" val="389437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Thanh toán VNPay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158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2FE1FF-2633-720B-67E4-03E690CB6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5259"/>
              </p:ext>
            </p:extLst>
          </p:nvPr>
        </p:nvGraphicFramePr>
        <p:xfrm>
          <a:off x="4506752" y="1415606"/>
          <a:ext cx="32209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905">
                  <a:extLst>
                    <a:ext uri="{9D8B030D-6E8A-4147-A177-3AD203B41FA5}">
                      <a16:colId xmlns:a16="http://schemas.microsoft.com/office/drawing/2014/main" val="307612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Đánh giá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47571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67C898-7C89-5AB6-A321-00F4889EF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87167"/>
              </p:ext>
            </p:extLst>
          </p:nvPr>
        </p:nvGraphicFramePr>
        <p:xfrm>
          <a:off x="4651228" y="6366069"/>
          <a:ext cx="419263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631">
                  <a:extLst>
                    <a:ext uri="{9D8B030D-6E8A-4147-A177-3AD203B41FA5}">
                      <a16:colId xmlns:a16="http://schemas.microsoft.com/office/drawing/2014/main" val="3436917606"/>
                    </a:ext>
                  </a:extLst>
                </a:gridCol>
              </a:tblGrid>
              <a:tr h="260873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Thêm địa điểm, thêm ẩm thực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363700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4092AC-A06A-AF90-5E90-A73845420AC2}"/>
              </a:ext>
            </a:extLst>
          </p:cNvPr>
          <p:cNvCxnSpPr>
            <a:cxnSpLocks/>
          </p:cNvCxnSpPr>
          <p:nvPr/>
        </p:nvCxnSpPr>
        <p:spPr>
          <a:xfrm flipV="1">
            <a:off x="2258037" y="629015"/>
            <a:ext cx="2393191" cy="2721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43186B-07EA-2E1C-1B0C-AEF3B55946C6}"/>
              </a:ext>
            </a:extLst>
          </p:cNvPr>
          <p:cNvCxnSpPr>
            <a:cxnSpLocks/>
          </p:cNvCxnSpPr>
          <p:nvPr/>
        </p:nvCxnSpPr>
        <p:spPr>
          <a:xfrm flipV="1">
            <a:off x="2258036" y="1692457"/>
            <a:ext cx="2393191" cy="166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BBCF8F-28B9-7B9C-324F-2F6022BDC66C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258035" y="2563253"/>
            <a:ext cx="2248717" cy="786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DB7649-AF62-6C7A-1B87-C033A70FBC40}"/>
              </a:ext>
            </a:extLst>
          </p:cNvPr>
          <p:cNvCxnSpPr>
            <a:cxnSpLocks/>
          </p:cNvCxnSpPr>
          <p:nvPr/>
        </p:nvCxnSpPr>
        <p:spPr>
          <a:xfrm>
            <a:off x="2258035" y="3330849"/>
            <a:ext cx="2515301" cy="3068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6CF32B-D2FB-97F3-BE31-C516D3A80602}"/>
              </a:ext>
            </a:extLst>
          </p:cNvPr>
          <p:cNvCxnSpPr>
            <a:cxnSpLocks/>
          </p:cNvCxnSpPr>
          <p:nvPr/>
        </p:nvCxnSpPr>
        <p:spPr>
          <a:xfrm>
            <a:off x="2258034" y="3360736"/>
            <a:ext cx="1819016" cy="68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172902-1EBD-ACE5-B55A-C5D72D992360}"/>
              </a:ext>
            </a:extLst>
          </p:cNvPr>
          <p:cNvCxnSpPr>
            <a:cxnSpLocks/>
          </p:cNvCxnSpPr>
          <p:nvPr/>
        </p:nvCxnSpPr>
        <p:spPr>
          <a:xfrm>
            <a:off x="2323750" y="3380727"/>
            <a:ext cx="2553515" cy="924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96F262-58F3-DE75-ADB2-92B6A06DE194}"/>
              </a:ext>
            </a:extLst>
          </p:cNvPr>
          <p:cNvCxnSpPr>
            <a:cxnSpLocks/>
          </p:cNvCxnSpPr>
          <p:nvPr/>
        </p:nvCxnSpPr>
        <p:spPr>
          <a:xfrm>
            <a:off x="2258034" y="3340060"/>
            <a:ext cx="2515302" cy="2165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040931E3-FC5F-D9C2-4830-1C48EDA91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" y="15200"/>
            <a:ext cx="3196550" cy="133733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FA55D3-CF4E-5ED3-785D-0A3BEB240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384" y="2841551"/>
            <a:ext cx="2914698" cy="53917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7172CEB-0B2F-2D05-52C0-4651BC2D8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383" y="3332633"/>
            <a:ext cx="2914698" cy="67199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9291596-247E-30BB-4ED9-E3B42DE1C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830" y="4141796"/>
            <a:ext cx="3126098" cy="107602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D420A52-3022-1848-8342-86F1B24C5C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229" y="6007828"/>
            <a:ext cx="3181794" cy="72400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2BDBFB0-C76E-5FB4-4364-A0D93C106E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229" y="5474617"/>
            <a:ext cx="1743318" cy="51442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94E5D72-5FAE-3C4F-0C87-DEF0F6EA60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122067"/>
            <a:ext cx="3126098" cy="1775215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9C3B5FC-C3D1-F41A-3604-24FD95A755DC}"/>
              </a:ext>
            </a:extLst>
          </p:cNvPr>
          <p:cNvCxnSpPr>
            <a:endCxn id="64" idx="3"/>
          </p:cNvCxnSpPr>
          <p:nvPr/>
        </p:nvCxnSpPr>
        <p:spPr>
          <a:xfrm flipH="1">
            <a:off x="3126098" y="5505465"/>
            <a:ext cx="1751167" cy="504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9441EA-0554-493D-EBA5-D7E66FB86124}"/>
              </a:ext>
            </a:extLst>
          </p:cNvPr>
          <p:cNvCxnSpPr>
            <a:endCxn id="54" idx="1"/>
          </p:cNvCxnSpPr>
          <p:nvPr/>
        </p:nvCxnSpPr>
        <p:spPr>
          <a:xfrm flipV="1">
            <a:off x="6434356" y="3111139"/>
            <a:ext cx="1764028" cy="31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C075F6B-0CC7-0042-5215-6E1F4074F950}"/>
              </a:ext>
            </a:extLst>
          </p:cNvPr>
          <p:cNvCxnSpPr>
            <a:cxnSpLocks/>
          </p:cNvCxnSpPr>
          <p:nvPr/>
        </p:nvCxnSpPr>
        <p:spPr>
          <a:xfrm>
            <a:off x="6335085" y="339686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670D3EC-9D41-3459-BA64-42AF2B8C4A78}"/>
              </a:ext>
            </a:extLst>
          </p:cNvPr>
          <p:cNvCxnSpPr>
            <a:endCxn id="56" idx="1"/>
          </p:cNvCxnSpPr>
          <p:nvPr/>
        </p:nvCxnSpPr>
        <p:spPr>
          <a:xfrm>
            <a:off x="6361471" y="3429000"/>
            <a:ext cx="1836912" cy="239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D8EA8B5-1D90-446D-17B5-67035F910381}"/>
              </a:ext>
            </a:extLst>
          </p:cNvPr>
          <p:cNvCxnSpPr/>
          <p:nvPr/>
        </p:nvCxnSpPr>
        <p:spPr>
          <a:xfrm>
            <a:off x="6096000" y="4495706"/>
            <a:ext cx="2247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0D656F5-880C-469C-87A8-D15AC8EA16E3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7921626" y="5731828"/>
            <a:ext cx="793603" cy="74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8F43E58-70C9-C0D2-FEC5-499F1BE2E0AC}"/>
              </a:ext>
            </a:extLst>
          </p:cNvPr>
          <p:cNvCxnSpPr/>
          <p:nvPr/>
        </p:nvCxnSpPr>
        <p:spPr>
          <a:xfrm flipH="1" flipV="1">
            <a:off x="2861187" y="732237"/>
            <a:ext cx="1912149" cy="32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7CCC753-63FD-CA06-B132-B949EB6E8BDD}"/>
              </a:ext>
            </a:extLst>
          </p:cNvPr>
          <p:cNvCxnSpPr>
            <a:cxnSpLocks/>
          </p:cNvCxnSpPr>
          <p:nvPr/>
        </p:nvCxnSpPr>
        <p:spPr>
          <a:xfrm flipV="1">
            <a:off x="7921626" y="6499123"/>
            <a:ext cx="922233" cy="4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FEC99265-F164-0B46-1A6E-D4C7C96A26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3698" y="1182611"/>
            <a:ext cx="3355230" cy="1221634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12431A1-57C8-49A4-8A38-5E46B4AFD01E}"/>
              </a:ext>
            </a:extLst>
          </p:cNvPr>
          <p:cNvCxnSpPr/>
          <p:nvPr/>
        </p:nvCxnSpPr>
        <p:spPr>
          <a:xfrm flipV="1">
            <a:off x="6577781" y="1786446"/>
            <a:ext cx="1620602" cy="776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4192A075-81C2-0942-BD47-2936BA5C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98038"/>
              </p:ext>
            </p:extLst>
          </p:nvPr>
        </p:nvGraphicFramePr>
        <p:xfrm>
          <a:off x="7629832" y="126171"/>
          <a:ext cx="4050891" cy="92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891">
                  <a:extLst>
                    <a:ext uri="{9D8B030D-6E8A-4147-A177-3AD203B41FA5}">
                      <a16:colId xmlns:a16="http://schemas.microsoft.com/office/drawing/2014/main" val="2160201950"/>
                    </a:ext>
                  </a:extLst>
                </a:gridCol>
              </a:tblGrid>
              <a:tr h="923561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Người dùng sẽ tiến hành đánh giá trang web bằng cách click sao và gửi tin nhắn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900340"/>
                  </a:ext>
                </a:extLst>
              </a:tr>
            </a:tbl>
          </a:graphicData>
        </a:graphic>
      </p:graphicFrame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A6C28CF-8CE1-D354-688B-1C8A8B4B0C15}"/>
              </a:ext>
            </a:extLst>
          </p:cNvPr>
          <p:cNvCxnSpPr>
            <a:endCxn id="90" idx="1"/>
          </p:cNvCxnSpPr>
          <p:nvPr/>
        </p:nvCxnSpPr>
        <p:spPr>
          <a:xfrm flipV="1">
            <a:off x="5555226" y="587951"/>
            <a:ext cx="2074606" cy="1117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46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2F2AF4-5374-31A7-BF41-5C5ECA6AC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90482"/>
              </p:ext>
            </p:extLst>
          </p:nvPr>
        </p:nvGraphicFramePr>
        <p:xfrm>
          <a:off x="2032000" y="18872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81749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Cấu trúc website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01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45BFFE-9406-D3AA-3612-63AD76195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875322"/>
              </p:ext>
            </p:extLst>
          </p:nvPr>
        </p:nvGraphicFramePr>
        <p:xfrm>
          <a:off x="412955" y="719666"/>
          <a:ext cx="11533240" cy="536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084">
                  <a:extLst>
                    <a:ext uri="{9D8B030D-6E8A-4147-A177-3AD203B41FA5}">
                      <a16:colId xmlns:a16="http://schemas.microsoft.com/office/drawing/2014/main" val="1455111637"/>
                    </a:ext>
                  </a:extLst>
                </a:gridCol>
                <a:gridCol w="2332212">
                  <a:extLst>
                    <a:ext uri="{9D8B030D-6E8A-4147-A177-3AD203B41FA5}">
                      <a16:colId xmlns:a16="http://schemas.microsoft.com/office/drawing/2014/main" val="275456638"/>
                    </a:ext>
                  </a:extLst>
                </a:gridCol>
                <a:gridCol w="2306648">
                  <a:extLst>
                    <a:ext uri="{9D8B030D-6E8A-4147-A177-3AD203B41FA5}">
                      <a16:colId xmlns:a16="http://schemas.microsoft.com/office/drawing/2014/main" val="4038075942"/>
                    </a:ext>
                  </a:extLst>
                </a:gridCol>
                <a:gridCol w="2306648">
                  <a:extLst>
                    <a:ext uri="{9D8B030D-6E8A-4147-A177-3AD203B41FA5}">
                      <a16:colId xmlns:a16="http://schemas.microsoft.com/office/drawing/2014/main" val="729829936"/>
                    </a:ext>
                  </a:extLst>
                </a:gridCol>
                <a:gridCol w="2306648">
                  <a:extLst>
                    <a:ext uri="{9D8B030D-6E8A-4147-A177-3AD203B41FA5}">
                      <a16:colId xmlns:a16="http://schemas.microsoft.com/office/drawing/2014/main" val="2020661027"/>
                    </a:ext>
                  </a:extLst>
                </a:gridCol>
              </a:tblGrid>
              <a:tr h="5366502"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Trang chủ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Trang Địa Điểm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Trang Ẩm Thực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Trang Liên Hệ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Trang đăng nhập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3317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116A777-357B-7918-5304-1339D530A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4" y="1238865"/>
            <a:ext cx="1995949" cy="4761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99670F-FB67-BBE7-C3EF-55D90F42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100" y="1323680"/>
            <a:ext cx="2285835" cy="4677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198419-2C83-280F-6E93-C589F9F2A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083" y="1323679"/>
            <a:ext cx="2285835" cy="4677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028FC7-0604-8A86-860D-76EF0C5D0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134" y="1323678"/>
            <a:ext cx="1995949" cy="4677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C19D71-8666-2F4A-48D7-16A919513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354" y="1323678"/>
            <a:ext cx="1995949" cy="46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351A51-CD14-9990-74EC-881EC995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46606" cy="3608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B4EF2-C72D-8096-2F70-3765F32F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608438"/>
            <a:ext cx="3446606" cy="3249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654ED0-7035-DB88-2D9C-63562FA7A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971" y="0"/>
            <a:ext cx="4400029" cy="2715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105478-95D7-C60B-FBE4-92098C15B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536" y="2715004"/>
            <a:ext cx="3245198" cy="4067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86EA28-F9E0-0D3B-A047-144287817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6606" y="3038168"/>
            <a:ext cx="5372929" cy="3819832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5397FE3-EB0B-F266-9CBB-2F3642688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599841"/>
              </p:ext>
            </p:extLst>
          </p:nvPr>
        </p:nvGraphicFramePr>
        <p:xfrm>
          <a:off x="4552335" y="0"/>
          <a:ext cx="2507226" cy="2573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226">
                  <a:extLst>
                    <a:ext uri="{9D8B030D-6E8A-4147-A177-3AD203B41FA5}">
                      <a16:colId xmlns:a16="http://schemas.microsoft.com/office/drawing/2014/main" val="2710436701"/>
                    </a:ext>
                  </a:extLst>
                </a:gridCol>
              </a:tblGrid>
              <a:tr h="514773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Trang Chủ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866386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Địa Điểm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543201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Ẩm Thực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59233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Liên hệ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153009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Nhập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4293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4244D8-3B3D-4E1E-3322-068D2B668575}"/>
              </a:ext>
            </a:extLst>
          </p:cNvPr>
          <p:cNvCxnSpPr/>
          <p:nvPr/>
        </p:nvCxnSpPr>
        <p:spPr>
          <a:xfrm flipH="1">
            <a:off x="3446606" y="285135"/>
            <a:ext cx="1243381" cy="70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133F63-5DAC-3951-CB29-5C0170DEE650}"/>
              </a:ext>
            </a:extLst>
          </p:cNvPr>
          <p:cNvCxnSpPr/>
          <p:nvPr/>
        </p:nvCxnSpPr>
        <p:spPr>
          <a:xfrm flipH="1">
            <a:off x="3215148" y="796413"/>
            <a:ext cx="1435510" cy="348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B8FF99-31DE-C968-59B2-72532257C2D8}"/>
              </a:ext>
            </a:extLst>
          </p:cNvPr>
          <p:cNvCxnSpPr/>
          <p:nvPr/>
        </p:nvCxnSpPr>
        <p:spPr>
          <a:xfrm>
            <a:off x="6893212" y="1170039"/>
            <a:ext cx="1272078" cy="33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7C4822-98AE-9A29-B473-22D694C95834}"/>
              </a:ext>
            </a:extLst>
          </p:cNvPr>
          <p:cNvCxnSpPr/>
          <p:nvPr/>
        </p:nvCxnSpPr>
        <p:spPr>
          <a:xfrm>
            <a:off x="6872748" y="1799303"/>
            <a:ext cx="2674375" cy="2343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BE84D2-10F4-2B39-EBB1-F0AEDAB0B553}"/>
              </a:ext>
            </a:extLst>
          </p:cNvPr>
          <p:cNvCxnSpPr/>
          <p:nvPr/>
        </p:nvCxnSpPr>
        <p:spPr>
          <a:xfrm>
            <a:off x="5869858" y="2349910"/>
            <a:ext cx="0" cy="1079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17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A602F5-7EE3-ACD4-5F76-F72ED7A8E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495383"/>
              </p:ext>
            </p:extLst>
          </p:nvPr>
        </p:nvGraphicFramePr>
        <p:xfrm>
          <a:off x="4925962" y="2920508"/>
          <a:ext cx="17698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806">
                  <a:extLst>
                    <a:ext uri="{9D8B030D-6E8A-4147-A177-3AD203B41FA5}">
                      <a16:colId xmlns:a16="http://schemas.microsoft.com/office/drawing/2014/main" val="3454835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</a:rPr>
                        <a:t>Admin quản lý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3964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03D65F-BA32-D324-BA0B-E9AB69D0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13086" cy="3215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3FC0C-BF78-9E9A-C658-25186F1BE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2913086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57C22E-1862-7EBB-6B91-AEBED7964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174" y="0"/>
            <a:ext cx="3116826" cy="3743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918AEA-4213-EDA9-1E2A-6AF30B27D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155" y="3743847"/>
            <a:ext cx="4375355" cy="30146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4EA108-0B5A-1508-C4D1-E7A678395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596" y="3966059"/>
            <a:ext cx="4815069" cy="27677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77ADFB-4E3D-657F-4363-C617313F41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6827" y="2186378"/>
            <a:ext cx="1267002" cy="4001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AA56FD-B7C2-BDAA-8BB0-57769D1C9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6172" y="2186378"/>
            <a:ext cx="1629002" cy="38105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740354-588E-303F-6C28-B90B9A47AE63}"/>
              </a:ext>
            </a:extLst>
          </p:cNvPr>
          <p:cNvCxnSpPr/>
          <p:nvPr/>
        </p:nvCxnSpPr>
        <p:spPr>
          <a:xfrm flipH="1" flipV="1">
            <a:off x="2824596" y="314632"/>
            <a:ext cx="2199688" cy="2771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E770FE-EEB2-3093-1AC7-EC6B85834A93}"/>
              </a:ext>
            </a:extLst>
          </p:cNvPr>
          <p:cNvCxnSpPr>
            <a:cxnSpLocks/>
          </p:cNvCxnSpPr>
          <p:nvPr/>
        </p:nvCxnSpPr>
        <p:spPr>
          <a:xfrm flipV="1">
            <a:off x="6489291" y="124237"/>
            <a:ext cx="2723535" cy="2989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12F307-EFCA-02D5-FC27-08BFE75F35E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383829" y="2386431"/>
            <a:ext cx="654525" cy="699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5DF21F-A9E8-13AD-C802-8127DAC43DDE}"/>
              </a:ext>
            </a:extLst>
          </p:cNvPr>
          <p:cNvCxnSpPr/>
          <p:nvPr/>
        </p:nvCxnSpPr>
        <p:spPr>
          <a:xfrm flipV="1">
            <a:off x="6489291" y="2487561"/>
            <a:ext cx="1150374" cy="598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A610907-75B2-A11B-1B97-839FEBC11EDF}"/>
              </a:ext>
            </a:extLst>
          </p:cNvPr>
          <p:cNvCxnSpPr/>
          <p:nvPr/>
        </p:nvCxnSpPr>
        <p:spPr>
          <a:xfrm flipH="1">
            <a:off x="2515701" y="3054375"/>
            <a:ext cx="2482644" cy="81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B86B54-7EA6-923F-E92C-7985B407EDD4}"/>
              </a:ext>
            </a:extLst>
          </p:cNvPr>
          <p:cNvCxnSpPr/>
          <p:nvPr/>
        </p:nvCxnSpPr>
        <p:spPr>
          <a:xfrm>
            <a:off x="6489291" y="3085745"/>
            <a:ext cx="1526458" cy="880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82B65A-11B3-9979-EC1F-2FB1D5291587}"/>
              </a:ext>
            </a:extLst>
          </p:cNvPr>
          <p:cNvCxnSpPr/>
          <p:nvPr/>
        </p:nvCxnSpPr>
        <p:spPr>
          <a:xfrm>
            <a:off x="5750642" y="3138049"/>
            <a:ext cx="0" cy="1152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649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4F174-921F-34C9-7EC6-D6D1E0A3F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025" y="2726727"/>
            <a:ext cx="5709721" cy="2430864"/>
          </a:xfrm>
        </p:spPr>
        <p:txBody>
          <a:bodyPr anchor="t">
            <a:normAutofit/>
          </a:bodyPr>
          <a:lstStyle/>
          <a:p>
            <a:r>
              <a:rPr lang="vi-VN" sz="2000" dirty="0">
                <a:solidFill>
                  <a:schemeClr val="tx2"/>
                </a:solidFill>
              </a:rPr>
              <a:t>CẢM ƠN QUÝ THẦY CÔ</a:t>
            </a:r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0480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701</Words>
  <Application>Microsoft Office PowerPoint</Application>
  <PresentationFormat>Widescreen</PresentationFormat>
  <Paragraphs>82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  s New Roman</vt:lpstr>
      <vt:lpstr>Time s New Roman</vt:lpstr>
      <vt:lpstr>Office Theme</vt:lpstr>
      <vt:lpstr>PowerPoint Presentation</vt:lpstr>
      <vt:lpstr>PHÁT TRIỂN WEBSITE GIỚI THIỆU DU LỊCH TỈNH TRÀ VINH TÍCH HỢP BẢN ĐỒ VÀ ĐÁNH GIÁ NGƯỜI DÙNG SỬ DỤNG PHP VÀ MYSQL </vt:lpstr>
      <vt:lpstr>PowerPoint Presentation</vt:lpstr>
      <vt:lpstr>Đối tượng sử dụng được chia thành các nhóm phụ thuộc vào từng chức năng: Du Khách, Admin,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Thach Nhut Minh</dc:creator>
  <cp:lastModifiedBy>Thach Nhut Minh</cp:lastModifiedBy>
  <cp:revision>4</cp:revision>
  <dcterms:created xsi:type="dcterms:W3CDTF">2025-12-26T05:42:42Z</dcterms:created>
  <dcterms:modified xsi:type="dcterms:W3CDTF">2025-12-26T17:12:49Z</dcterms:modified>
</cp:coreProperties>
</file>